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Inter SemiBold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Inter ExtraBold"/>
      <p:bold r:id="rId40"/>
      <p:boldItalic r:id="rId41"/>
    </p:embeddedFont>
    <p:embeddedFont>
      <p:font typeface="Fira Code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CC7AB7-BE5B-4CF2-BD62-9C6C35283A54}">
  <a:tblStyle styleId="{72CC7AB7-BE5B-4CF2-BD62-9C6C35283A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ExtraBold-bold.fntdata"/><Relationship Id="rId20" Type="http://schemas.openxmlformats.org/officeDocument/2006/relationships/slide" Target="slides/slide14.xml"/><Relationship Id="rId42" Type="http://schemas.openxmlformats.org/officeDocument/2006/relationships/font" Target="fonts/FiraCode-regular.fntdata"/><Relationship Id="rId41" Type="http://schemas.openxmlformats.org/officeDocument/2006/relationships/font" Target="fonts/InterExtraBold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FiraCode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nterSemiBold-bold.fntdata"/><Relationship Id="rId10" Type="http://schemas.openxmlformats.org/officeDocument/2006/relationships/slide" Target="slides/slide4.xml"/><Relationship Id="rId32" Type="http://schemas.openxmlformats.org/officeDocument/2006/relationships/font" Target="fonts/Inter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Inter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-bold.fntdata"/><Relationship Id="rId14" Type="http://schemas.openxmlformats.org/officeDocument/2006/relationships/slide" Target="slides/slide8.xml"/><Relationship Id="rId36" Type="http://schemas.openxmlformats.org/officeDocument/2006/relationships/font" Target="fonts/Inter-regular.fntdata"/><Relationship Id="rId17" Type="http://schemas.openxmlformats.org/officeDocument/2006/relationships/slide" Target="slides/slide11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5.png"/><Relationship Id="rId7" Type="http://schemas.openxmlformats.org/officeDocument/2006/relationships/image" Target="../media/image12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39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09600" y="1729829"/>
            <a:ext cx="619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TRABAJO FIN DE MÁSTER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2148929"/>
            <a:ext cx="6500812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Sistema de Pentesting Basado en IA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609600" y="4465141"/>
            <a:ext cx="6096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4808041"/>
            <a:ext cx="6191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Framework Modular Multiagente y Man-in-the-Loop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9900" y="104775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Estructura de la Auditoría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38225" y="2862262"/>
            <a:ext cx="7372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Motivación: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Crecimiento exponencial de vulnerabilidades.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38225" y="3490912"/>
            <a:ext cx="72104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Arquitectura: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Disociación de planos semántico y táctico.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38225" y="4119562"/>
            <a:ext cx="60674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Memoria: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Implementación vectorial persistente.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38225" y="4748212"/>
            <a:ext cx="60674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Resultados: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Validación empírica del framework.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8908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5194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1481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77678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609600" y="2172592"/>
            <a:ext cx="57607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La Asimetría Operativa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09600" y="2904083"/>
            <a:ext cx="4572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09600" y="3399383"/>
            <a:ext cx="5486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Topologías efímeras y distribuidas.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09600" y="3904208"/>
            <a:ext cx="5486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Auditorías manuales desfasadas.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09600" y="4409033"/>
            <a:ext cx="5486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Falsa sensación de seguridad.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IMPACTO FINANCIERO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09600" y="9525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Reducción de Costos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357687" y="2676525"/>
            <a:ext cx="34766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50%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3238500" y="4429125"/>
            <a:ext cx="571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Disminución estimada del costo operativo mediante escaneo continuo inteligente.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85925"/>
            <a:ext cx="5019675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1685925"/>
            <a:ext cx="5019675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Diferenciación de Paradigmas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086475" y="2370236"/>
            <a:ext cx="19050" cy="31937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1066800" y="3205162"/>
            <a:ext cx="431053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Vulnerability Scanning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1219200" y="3833812"/>
            <a:ext cx="3952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Enfoque estrictamente determinista.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1066800" y="3833812"/>
            <a:ext cx="28575" cy="2476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219200" y="4233862"/>
            <a:ext cx="39528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Validación estática de firmas conocidas.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1066800" y="4233862"/>
            <a:ext cx="28575" cy="495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7019925" y="3328987"/>
            <a:ext cx="431053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Pentesting Ofensivo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172325" y="3957637"/>
            <a:ext cx="3952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Razonamiento cognitivo adaptativo.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7019925" y="3957637"/>
            <a:ext cx="28575" cy="2476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7172325" y="4357687"/>
            <a:ext cx="3952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Inferencia lateral bajo incertidumbre.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7019925" y="4357687"/>
            <a:ext cx="28575" cy="2476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876550"/>
            <a:ext cx="3454449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8849" y="2876550"/>
            <a:ext cx="3454449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738437"/>
            <a:ext cx="3454449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Restricciones Heurísticas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32575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990600" y="3790950"/>
            <a:ext cx="28270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Escasez Crítica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990600" y="4219575"/>
            <a:ext cx="26924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Brecha global de profesionales.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9849" y="32575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4749849" y="3790950"/>
            <a:ext cx="28270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Fatiga Cognitiva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749849" y="4219575"/>
            <a:ext cx="26924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Densidad insostenible de telemetría.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9099" y="311943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509099" y="3652837"/>
            <a:ext cx="282707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Crecimiento Exponencial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509099" y="4357687"/>
            <a:ext cx="26924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Superficies de ataque dinámicas.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LIMITACIONES DE LLMS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09600" y="9525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El Reto de la Autonomía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919412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833812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748212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30908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1524000" y="2933700"/>
            <a:ext cx="331041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Saturación Acelerada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524000" y="3286125"/>
            <a:ext cx="3152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Telemetría cruda ahoga el modelo.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0526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1524000" y="3848100"/>
            <a:ext cx="29203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Efecto Lost in the Middle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524000" y="4200525"/>
            <a:ext cx="278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Amnesia operativa intermedia.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49196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524000" y="4762500"/>
            <a:ext cx="32604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Alucinaciones Lógicas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524000" y="5114925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Generación de vectores inviables.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/>
        </p:nvSpPr>
        <p:spPr>
          <a:xfrm>
            <a:off x="335279" y="2143125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Restricciones de APIs Comerciales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09600" y="3371850"/>
            <a:ext cx="33528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$$$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09600" y="4257675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Facturación impredecible por inferencia iterativa.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419600" y="3371850"/>
            <a:ext cx="33528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Tax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4419600" y="4257675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Alto costo por tokens morfológicos.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229600" y="4257675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Tiempos de espera inasumibles.</a:t>
            </a:r>
            <a:endParaRPr/>
          </a:p>
        </p:txBody>
      </p:sp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0" y="3429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85925"/>
            <a:ext cx="52578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685925"/>
            <a:ext cx="52578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Autónomo vs MitL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066800" y="2200275"/>
            <a:ext cx="45605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Totalmente Autónomo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066800" y="2828925"/>
            <a:ext cx="4343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Ceguera de túnel defensiva.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066800" y="3305175"/>
            <a:ext cx="4343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Riesgo crítico de DoS accidental.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066800" y="3781425"/>
            <a:ext cx="4343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Altos falsos positivos.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81800" y="2200275"/>
            <a:ext cx="45605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Man-in-the-Loop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81800" y="2828925"/>
            <a:ext cx="4343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Asimetría operativa controlada.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81800" y="3305175"/>
            <a:ext cx="4343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Cumplimiento estricto de alcance.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81800" y="3781425"/>
            <a:ext cx="4343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Reducción masiva de falsos positivos.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2847975"/>
            <a:ext cx="1524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3324225"/>
            <a:ext cx="1524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3800475"/>
            <a:ext cx="1524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800" y="284797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800" y="332422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800" y="3800475"/>
            <a:ext cx="1809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1212" y="1866900"/>
            <a:ext cx="4095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1809750" y="2628900"/>
            <a:ext cx="8572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 enfoque híbrido multiagente con memoria vectorial supera las limitaciones estáticas y mitiga las alucinaciones.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5791200" y="4572000"/>
            <a:ext cx="6096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972050" y="4762500"/>
            <a:ext cx="224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HIPÓTESIS CENTRAL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Metas Técnicas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609600" y="28336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990600" y="2747962"/>
            <a:ext cx="6362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Disociación Plana: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Separación cognitiva y táctica.</a:t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609600" y="353853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990600" y="3452812"/>
            <a:ext cx="76295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Memoria Persistente: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Indexación topológica en tiempo real.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609600" y="42433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990600" y="4157662"/>
            <a:ext cx="6762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Prevención Semántica: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Parseo estricto de telemetría.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609600" y="494823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990600" y="4862512"/>
            <a:ext cx="7572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Gobernanza Táctica: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Control operativo humano obligatorio.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0" y="2128837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2660570" y="3652837"/>
            <a:ext cx="687085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Arquitectura del Sistema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3690937" y="4452937"/>
            <a:ext cx="4810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Diseño Estructural y Agentes Especializados</a:t>
            </a:r>
            <a:endParaRPr/>
          </a:p>
        </p:txBody>
      </p:sp>
      <p:pic>
        <p:nvPicPr>
          <p:cNvPr descr="image.png" id="233" name="Google Shape;2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8825" y="2471737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33194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0" y="33194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0900" y="33194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44100" y="331946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Jerarquía Multiagente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238250" y="4081462"/>
            <a:ext cx="15601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Reconocimiento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1123950" y="4386262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Fingerprinting pasivo y activo.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4329112" y="4081462"/>
            <a:ext cx="83010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Escaneo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3867150" y="4386262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Correlación dinámica de CVEs.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6924675" y="4081462"/>
            <a:ext cx="114014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Explotación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6610350" y="4386262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Ejecución táctica estructurada.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9567862" y="4081462"/>
            <a:ext cx="1350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Autenticación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9353550" y="4386262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Auditoría profunda de identidad.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609600" y="4024312"/>
            <a:ext cx="109728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2171700"/>
            <a:ext cx="51816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/>
        </p:nvSpPr>
        <p:spPr>
          <a:xfrm>
            <a:off x="609600" y="2172592"/>
            <a:ext cx="544068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Persistencia Vectorial</a:t>
            </a:r>
            <a:endParaRPr/>
          </a:p>
        </p:txBody>
      </p:sp>
      <p:sp>
        <p:nvSpPr>
          <p:cNvPr id="258" name="Google Shape;258;p26"/>
          <p:cNvSpPr/>
          <p:nvPr/>
        </p:nvSpPr>
        <p:spPr>
          <a:xfrm>
            <a:off x="609600" y="2904083"/>
            <a:ext cx="4572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609600" y="3399383"/>
            <a:ext cx="5181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Arquitectura Single Source of Truth.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609600" y="3904208"/>
            <a:ext cx="5181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Implementación nativa PostgreSQL pgvector.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609600" y="4409033"/>
            <a:ext cx="5181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Aislamiento total de tokens crudos.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6705600" y="24765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CREATE TABLE IF NOT EXISTS agent_memory (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6934200" y="28575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id bigserial PRIMARY KEY,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6934200" y="31623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task_id varchar(255),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6934200" y="34671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content text,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6934200" y="37719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7F3D0"/>
                </a:solidFill>
                <a:latin typeface="Fira Code"/>
                <a:ea typeface="Fira Code"/>
                <a:cs typeface="Fira Code"/>
                <a:sym typeface="Fira Code"/>
              </a:rPr>
              <a:t>embedding vector(4096)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6705600" y="41529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RAG Basado en Estados</a:t>
            </a:r>
            <a:endParaRPr/>
          </a:p>
        </p:txBody>
      </p:sp>
      <p:pic>
        <p:nvPicPr>
          <p:cNvPr descr="image.png" id="273" name="Google Shape;2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138362"/>
            <a:ext cx="571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776662"/>
            <a:ext cx="571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5414962"/>
            <a:ext cx="571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/>
          <p:nvPr/>
        </p:nvSpPr>
        <p:spPr>
          <a:xfrm>
            <a:off x="1790700" y="2005012"/>
            <a:ext cx="56207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Aislamiento Táctico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1790700" y="2405062"/>
            <a:ext cx="53530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Motor deductivo evaluado sin estado persistente local.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1790700" y="3643312"/>
            <a:ext cx="55806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Ingesta Estructurada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1790700" y="4043362"/>
            <a:ext cx="5314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Telemetría inyectada inmediatamente a base de datos.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1790700" y="5281612"/>
            <a:ext cx="54206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Recuperación Semántica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1790700" y="5681662"/>
            <a:ext cx="5162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Consultas frescas inyectadas por demanda analítica.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Integración Operativa</a:t>
            </a:r>
            <a:endParaRPr/>
          </a:p>
        </p:txBody>
      </p:sp>
      <p:graphicFrame>
        <p:nvGraphicFramePr>
          <p:cNvPr id="287" name="Google Shape;287;p28"/>
          <p:cNvGraphicFramePr/>
          <p:nvPr/>
        </p:nvGraphicFramePr>
        <p:xfrm>
          <a:off x="609600" y="21002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{72CC7AB7-BE5B-4CF2-BD62-9C6C35283A54}</a:tableStyleId>
              </a:tblPr>
              <a:tblGrid>
                <a:gridCol w="2886225"/>
                <a:gridCol w="5859500"/>
                <a:gridCol w="2227075"/>
              </a:tblGrid>
              <a:tr h="7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Herramienta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Función Arquitectónica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del Flujo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Nmap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Escaneo de infraestructura activa.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1 - 2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Nessus / OpenVAS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Correlación estática de vulnerabilidades.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Metasploit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Ejecución remota de exploits controlados.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4 - 5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Hashcat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Fuerza bruta sobre credenciales extraídas.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00" y="0"/>
            <a:ext cx="47625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7429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8039100" y="1766887"/>
            <a:ext cx="372046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Autorización Humana</a:t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8039100" y="2909887"/>
            <a:ext cx="381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9"/>
          <p:cNvSpPr txBox="1"/>
          <p:nvPr/>
        </p:nvSpPr>
        <p:spPr>
          <a:xfrm>
            <a:off x="8039100" y="3252787"/>
            <a:ext cx="3543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Intervención analítica asíncrona.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8039100" y="3757612"/>
            <a:ext cx="35433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Prevención absoluta de ataques destructivos.</a:t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8039100" y="4538662"/>
            <a:ext cx="35433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Garantía estricta de reglas de enfrentamiento.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 txBox="1"/>
          <p:nvPr/>
        </p:nvSpPr>
        <p:spPr>
          <a:xfrm>
            <a:off x="609600" y="2210692"/>
            <a:ext cx="548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TOPOLOGÍA DINÁMICA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609600" y="2553592"/>
            <a:ext cx="57607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Mapeo y Pivoteo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609600" y="3361283"/>
            <a:ext cx="5486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Abstracción relacional de red interna.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609600" y="3866108"/>
            <a:ext cx="5486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Inferencia algorítmica de subredes aisladas.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609600" y="4370933"/>
            <a:ext cx="5486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Despliegue autónomo de túneles SSH.</a:t>
            </a:r>
            <a:endParaRPr/>
          </a:p>
        </p:txBody>
      </p:sp>
      <p:pic>
        <p:nvPicPr>
          <p:cNvPr descr="image.png" id="308" name="Google Shape;3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133725"/>
            <a:ext cx="3454449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8849" y="3133725"/>
            <a:ext cx="3454449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3133725"/>
            <a:ext cx="3454449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Prevención de Alucinaciones</a:t>
            </a:r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1000125" y="3524250"/>
            <a:ext cx="280706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Búsqueda Determinista</a:t>
            </a:r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1000125" y="3952875"/>
            <a:ext cx="26733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Verificación física del código exploit.</a:t>
            </a:r>
            <a:endParaRPr/>
          </a:p>
        </p:txBody>
      </p:sp>
      <p:sp>
        <p:nvSpPr>
          <p:cNvPr id="319" name="Google Shape;319;p31"/>
          <p:cNvSpPr txBox="1"/>
          <p:nvPr/>
        </p:nvSpPr>
        <p:spPr>
          <a:xfrm>
            <a:off x="4759374" y="3524250"/>
            <a:ext cx="280706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Bloqueo Semántico</a:t>
            </a:r>
            <a:endParaRPr/>
          </a:p>
        </p:txBody>
      </p:sp>
      <p:sp>
        <p:nvSpPr>
          <p:cNvPr id="320" name="Google Shape;320;p31"/>
          <p:cNvSpPr txBox="1"/>
          <p:nvPr/>
        </p:nvSpPr>
        <p:spPr>
          <a:xfrm>
            <a:off x="4759374" y="3952875"/>
            <a:ext cx="26733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Intercepción pasiva de módulos inventados.</a:t>
            </a:r>
            <a:endParaRPr/>
          </a:p>
        </p:txBody>
      </p:sp>
      <p:sp>
        <p:nvSpPr>
          <p:cNvPr id="321" name="Google Shape;321;p31"/>
          <p:cNvSpPr txBox="1"/>
          <p:nvPr/>
        </p:nvSpPr>
        <p:spPr>
          <a:xfrm>
            <a:off x="8518624" y="3524250"/>
            <a:ext cx="280706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Autocorrección</a:t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8518624" y="3952875"/>
            <a:ext cx="26733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Bucle adaptativo resolutivo post-error.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METODOLOGÍA</a:t>
            </a:r>
            <a:endParaRPr/>
          </a:p>
        </p:txBody>
      </p:sp>
      <p:sp>
        <p:nvSpPr>
          <p:cNvPr id="328" name="Google Shape;328;p32"/>
          <p:cNvSpPr txBox="1"/>
          <p:nvPr/>
        </p:nvSpPr>
        <p:spPr>
          <a:xfrm>
            <a:off x="609600" y="9525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Protocolo de Validación</a:t>
            </a:r>
            <a:endParaRPr/>
          </a:p>
        </p:txBody>
      </p:sp>
      <p:sp>
        <p:nvSpPr>
          <p:cNvPr id="329" name="Google Shape;329;p32"/>
          <p:cNvSpPr/>
          <p:nvPr/>
        </p:nvSpPr>
        <p:spPr>
          <a:xfrm>
            <a:off x="609600" y="3319462"/>
            <a:ext cx="228600" cy="228600"/>
          </a:xfrm>
          <a:prstGeom prst="roundRect">
            <a:avLst>
              <a:gd fmla="val 50000" name="adj"/>
            </a:avLst>
          </a:prstGeom>
          <a:noFill/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2"/>
          <p:cNvSpPr txBox="1"/>
          <p:nvPr/>
        </p:nvSpPr>
        <p:spPr>
          <a:xfrm>
            <a:off x="1066800" y="3271837"/>
            <a:ext cx="79724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Entorno Aislado: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Despliegue seguro de laboratorio controlado.</a:t>
            </a:r>
            <a:endParaRPr/>
          </a:p>
        </p:txBody>
      </p:sp>
      <p:sp>
        <p:nvSpPr>
          <p:cNvPr id="331" name="Google Shape;331;p32"/>
          <p:cNvSpPr/>
          <p:nvPr/>
        </p:nvSpPr>
        <p:spPr>
          <a:xfrm>
            <a:off x="609600" y="4024312"/>
            <a:ext cx="228600" cy="228600"/>
          </a:xfrm>
          <a:prstGeom prst="roundRect">
            <a:avLst>
              <a:gd fmla="val 50000" name="adj"/>
            </a:avLst>
          </a:prstGeom>
          <a:noFill/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2"/>
          <p:cNvSpPr txBox="1"/>
          <p:nvPr/>
        </p:nvSpPr>
        <p:spPr>
          <a:xfrm>
            <a:off x="1066800" y="3976687"/>
            <a:ext cx="883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Referencia Determinista: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Máquinas específicas con fallos conocidos.</a:t>
            </a:r>
            <a:endParaRPr/>
          </a:p>
        </p:txBody>
      </p:sp>
      <p:sp>
        <p:nvSpPr>
          <p:cNvPr id="333" name="Google Shape;333;p32"/>
          <p:cNvSpPr/>
          <p:nvPr/>
        </p:nvSpPr>
        <p:spPr>
          <a:xfrm>
            <a:off x="609600" y="4729162"/>
            <a:ext cx="228600" cy="228600"/>
          </a:xfrm>
          <a:prstGeom prst="roundRect">
            <a:avLst>
              <a:gd fmla="val 50000" name="adj"/>
            </a:avLst>
          </a:prstGeom>
          <a:noFill/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2"/>
          <p:cNvSpPr txBox="1"/>
          <p:nvPr/>
        </p:nvSpPr>
        <p:spPr>
          <a:xfrm>
            <a:off x="1066800" y="4681537"/>
            <a:ext cx="9296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Monitorización Activa:</a:t>
            </a: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Telemetría exhaustiva de decisiones algorítmicas.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RESULTADOS FASES 1 Y 2</a:t>
            </a:r>
            <a:endParaRPr/>
          </a:p>
        </p:txBody>
      </p:sp>
      <p:sp>
        <p:nvSpPr>
          <p:cNvPr id="340" name="Google Shape;340;p33"/>
          <p:cNvSpPr txBox="1"/>
          <p:nvPr/>
        </p:nvSpPr>
        <p:spPr>
          <a:xfrm>
            <a:off x="609600" y="9525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Descubrimiento de Red</a:t>
            </a:r>
            <a:endParaRPr/>
          </a:p>
        </p:txBody>
      </p:sp>
      <p:sp>
        <p:nvSpPr>
          <p:cNvPr id="341" name="Google Shape;341;p33"/>
          <p:cNvSpPr/>
          <p:nvPr/>
        </p:nvSpPr>
        <p:spPr>
          <a:xfrm>
            <a:off x="6086475" y="2661791"/>
            <a:ext cx="19050" cy="295364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3"/>
          <p:cNvSpPr txBox="1"/>
          <p:nvPr/>
        </p:nvSpPr>
        <p:spPr>
          <a:xfrm>
            <a:off x="609600" y="3514725"/>
            <a:ext cx="52706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Escaneo Profundo</a:t>
            </a:r>
            <a:endParaRPr/>
          </a:p>
        </p:txBody>
      </p:sp>
      <p:sp>
        <p:nvSpPr>
          <p:cNvPr id="343" name="Google Shape;343;p33"/>
          <p:cNvSpPr txBox="1"/>
          <p:nvPr/>
        </p:nvSpPr>
        <p:spPr>
          <a:xfrm>
            <a:off x="609600" y="4114800"/>
            <a:ext cx="5019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Extracción mixta pasiva y activa.</a:t>
            </a:r>
            <a:endParaRPr/>
          </a:p>
        </p:txBody>
      </p:sp>
      <p:sp>
        <p:nvSpPr>
          <p:cNvPr id="344" name="Google Shape;344;p33"/>
          <p:cNvSpPr txBox="1"/>
          <p:nvPr/>
        </p:nvSpPr>
        <p:spPr>
          <a:xfrm>
            <a:off x="609600" y="4514850"/>
            <a:ext cx="5019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Identificación dual TCP/UDP estructurada.</a:t>
            </a:r>
            <a:endParaRPr/>
          </a:p>
        </p:txBody>
      </p:sp>
      <p:sp>
        <p:nvSpPr>
          <p:cNvPr id="345" name="Google Shape;345;p33"/>
          <p:cNvSpPr txBox="1"/>
          <p:nvPr/>
        </p:nvSpPr>
        <p:spPr>
          <a:xfrm>
            <a:off x="6562725" y="3514725"/>
            <a:ext cx="52706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Parseo Estricto</a:t>
            </a:r>
            <a:endParaRPr/>
          </a:p>
        </p:txBody>
      </p:sp>
      <p:sp>
        <p:nvSpPr>
          <p:cNvPr id="346" name="Google Shape;346;p33"/>
          <p:cNvSpPr txBox="1"/>
          <p:nvPr/>
        </p:nvSpPr>
        <p:spPr>
          <a:xfrm>
            <a:off x="6562725" y="4114800"/>
            <a:ext cx="5019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Serialización determinista limpia hacia JSON.</a:t>
            </a:r>
            <a:endParaRPr/>
          </a:p>
        </p:txBody>
      </p:sp>
      <p:sp>
        <p:nvSpPr>
          <p:cNvPr id="347" name="Google Shape;347;p33"/>
          <p:cNvSpPr txBox="1"/>
          <p:nvPr/>
        </p:nvSpPr>
        <p:spPr>
          <a:xfrm>
            <a:off x="6562725" y="4514850"/>
            <a:ext cx="5019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Prevención absoluta de inyección de logs.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RESULTADOS FASE 3</a:t>
            </a:r>
            <a:endParaRPr/>
          </a:p>
        </p:txBody>
      </p:sp>
      <p:sp>
        <p:nvSpPr>
          <p:cNvPr id="353" name="Google Shape;353;p34"/>
          <p:cNvSpPr txBox="1"/>
          <p:nvPr/>
        </p:nvSpPr>
        <p:spPr>
          <a:xfrm>
            <a:off x="609600" y="9525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Correlación Semántica RAG</a:t>
            </a:r>
            <a:endParaRPr/>
          </a:p>
        </p:txBody>
      </p:sp>
      <p:sp>
        <p:nvSpPr>
          <p:cNvPr id="354" name="Google Shape;354;p34"/>
          <p:cNvSpPr txBox="1"/>
          <p:nvPr/>
        </p:nvSpPr>
        <p:spPr>
          <a:xfrm>
            <a:off x="3990975" y="2676525"/>
            <a:ext cx="4210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100%</a:t>
            </a:r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2762250" y="4429125"/>
            <a:ext cx="6667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Intercepción exitosa de comandos alucinados por la Inteligencia Artificial.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RESULTADOS FASE 6</a:t>
            </a:r>
            <a:endParaRPr/>
          </a:p>
        </p:txBody>
      </p:sp>
      <p:sp>
        <p:nvSpPr>
          <p:cNvPr id="361" name="Google Shape;361;p35"/>
          <p:cNvSpPr txBox="1"/>
          <p:nvPr/>
        </p:nvSpPr>
        <p:spPr>
          <a:xfrm>
            <a:off x="609600" y="9525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Bucle Cognitivo ReAct</a:t>
            </a:r>
            <a:endParaRPr/>
          </a:p>
        </p:txBody>
      </p:sp>
      <p:sp>
        <p:nvSpPr>
          <p:cNvPr id="362" name="Google Shape;362;p35"/>
          <p:cNvSpPr/>
          <p:nvPr/>
        </p:nvSpPr>
        <p:spPr>
          <a:xfrm>
            <a:off x="2324100" y="36242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/>
          <p:cNvSpPr txBox="1"/>
          <p:nvPr/>
        </p:nvSpPr>
        <p:spPr>
          <a:xfrm>
            <a:off x="1838325" y="4081462"/>
            <a:ext cx="126015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Inteligencia</a:t>
            </a:r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1485900" y="4405312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Evaluación algorítmica del sistema local.</a:t>
            </a:r>
            <a:endParaRPr/>
          </a:p>
        </p:txBody>
      </p:sp>
      <p:sp>
        <p:nvSpPr>
          <p:cNvPr id="365" name="Google Shape;365;p35"/>
          <p:cNvSpPr/>
          <p:nvPr/>
        </p:nvSpPr>
        <p:spPr>
          <a:xfrm>
            <a:off x="5981700" y="35242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5"/>
          <p:cNvSpPr txBox="1"/>
          <p:nvPr/>
        </p:nvSpPr>
        <p:spPr>
          <a:xfrm>
            <a:off x="5715000" y="3981450"/>
            <a:ext cx="8001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Hashes</a:t>
            </a:r>
            <a:endParaRPr/>
          </a:p>
        </p:txBody>
      </p:sp>
      <p:sp>
        <p:nvSpPr>
          <p:cNvPr id="367" name="Google Shape;367;p35"/>
          <p:cNvSpPr txBox="1"/>
          <p:nvPr/>
        </p:nvSpPr>
        <p:spPr>
          <a:xfrm>
            <a:off x="5143500" y="4305300"/>
            <a:ext cx="1905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Volcado estructurado de credenciales corporativas.</a:t>
            </a:r>
            <a:endParaRPr/>
          </a:p>
        </p:txBody>
      </p:sp>
      <p:sp>
        <p:nvSpPr>
          <p:cNvPr id="368" name="Google Shape;368;p35"/>
          <p:cNvSpPr/>
          <p:nvPr/>
        </p:nvSpPr>
        <p:spPr>
          <a:xfrm>
            <a:off x="9639300" y="35242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 txBox="1"/>
          <p:nvPr/>
        </p:nvSpPr>
        <p:spPr>
          <a:xfrm>
            <a:off x="9363075" y="3981450"/>
            <a:ext cx="82010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Pivoteo</a:t>
            </a:r>
            <a:endParaRPr/>
          </a:p>
        </p:txBody>
      </p:sp>
      <p:sp>
        <p:nvSpPr>
          <p:cNvPr id="370" name="Google Shape;370;p35"/>
          <p:cNvSpPr txBox="1"/>
          <p:nvPr/>
        </p:nvSpPr>
        <p:spPr>
          <a:xfrm>
            <a:off x="8801100" y="4305300"/>
            <a:ext cx="1905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Análisis estratégico de tablas de enrutamiento.</a:t>
            </a:r>
            <a:endParaRPr/>
          </a:p>
        </p:txBody>
      </p:sp>
      <p:sp>
        <p:nvSpPr>
          <p:cNvPr id="371" name="Google Shape;371;p35"/>
          <p:cNvSpPr/>
          <p:nvPr/>
        </p:nvSpPr>
        <p:spPr>
          <a:xfrm>
            <a:off x="1706760" y="4195762"/>
            <a:ext cx="8778478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"/>
          <p:cNvSpPr txBox="1"/>
          <p:nvPr/>
        </p:nvSpPr>
        <p:spPr>
          <a:xfrm>
            <a:off x="609600" y="609600"/>
            <a:ext cx="1152144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Ética y Normativa</a:t>
            </a:r>
            <a:endParaRPr/>
          </a:p>
        </p:txBody>
      </p:sp>
      <p:pic>
        <p:nvPicPr>
          <p:cNvPr descr="image.png" id="377" name="Google Shape;37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747962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662362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576762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337" y="291941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6"/>
          <p:cNvSpPr txBox="1"/>
          <p:nvPr/>
        </p:nvSpPr>
        <p:spPr>
          <a:xfrm>
            <a:off x="1524000" y="2762250"/>
            <a:ext cx="45805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Inmutabilidad</a:t>
            </a:r>
            <a:endParaRPr/>
          </a:p>
        </p:txBody>
      </p:sp>
      <p:sp>
        <p:nvSpPr>
          <p:cNvPr id="382" name="Google Shape;382;p36"/>
          <p:cNvSpPr txBox="1"/>
          <p:nvPr/>
        </p:nvSpPr>
        <p:spPr>
          <a:xfrm>
            <a:off x="1524000" y="3114675"/>
            <a:ext cx="4362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 criptográfico inalterable de decisiones.</a:t>
            </a:r>
            <a:endParaRPr/>
          </a:p>
        </p:txBody>
      </p:sp>
      <p:pic>
        <p:nvPicPr>
          <p:cNvPr descr="image.png" id="383" name="Google Shape;38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712" y="38338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/>
        </p:nvSpPr>
        <p:spPr>
          <a:xfrm>
            <a:off x="1524000" y="3676650"/>
            <a:ext cx="39404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Minimización</a:t>
            </a:r>
            <a:endParaRPr/>
          </a:p>
        </p:txBody>
      </p:sp>
      <p:sp>
        <p:nvSpPr>
          <p:cNvPr id="385" name="Google Shape;385;p36"/>
          <p:cNvSpPr txBox="1"/>
          <p:nvPr/>
        </p:nvSpPr>
        <p:spPr>
          <a:xfrm>
            <a:off x="1524000" y="4029075"/>
            <a:ext cx="3752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Anonimización algorítmica activa (RGPD).</a:t>
            </a:r>
            <a:endParaRPr/>
          </a:p>
        </p:txBody>
      </p:sp>
      <p:pic>
        <p:nvPicPr>
          <p:cNvPr descr="image.png" id="386" name="Google Shape;38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387" y="4748212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6"/>
          <p:cNvSpPr txBox="1"/>
          <p:nvPr/>
        </p:nvSpPr>
        <p:spPr>
          <a:xfrm>
            <a:off x="1524000" y="4591050"/>
            <a:ext cx="47605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Estándares</a:t>
            </a:r>
            <a:endParaRPr/>
          </a:p>
        </p:txBody>
      </p:sp>
      <p:sp>
        <p:nvSpPr>
          <p:cNvPr id="388" name="Google Shape;388;p36"/>
          <p:cNvSpPr txBox="1"/>
          <p:nvPr/>
        </p:nvSpPr>
        <p:spPr>
          <a:xfrm>
            <a:off x="1524000" y="4943475"/>
            <a:ext cx="453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Alineación estricta con normativas ISO/IEC 27001.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/>
        </p:nvSpPr>
        <p:spPr>
          <a:xfrm>
            <a:off x="2190511" y="2156519"/>
            <a:ext cx="7810976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Conclusión y Trabajo Futuro</a:t>
            </a: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5791200" y="3025080"/>
            <a:ext cx="6096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7"/>
          <p:cNvSpPr txBox="1"/>
          <p:nvPr/>
        </p:nvSpPr>
        <p:spPr>
          <a:xfrm>
            <a:off x="2286000" y="3444180"/>
            <a:ext cx="7620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Validación empírica del equilibrio funcional entre escalabilidad computacional y heurística humana.</a:t>
            </a:r>
            <a:endParaRPr/>
          </a:p>
        </p:txBody>
      </p:sp>
      <p:sp>
        <p:nvSpPr>
          <p:cNvPr id="396" name="Google Shape;396;p37"/>
          <p:cNvSpPr txBox="1"/>
          <p:nvPr/>
        </p:nvSpPr>
        <p:spPr>
          <a:xfrm>
            <a:off x="2286000" y="4149030"/>
            <a:ext cx="7620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futuro requiere modelos multimodales y motores de compilación dinámica en caliente.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